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3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23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7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9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48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79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52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531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6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27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716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2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9481064-36A9-4183-B5F0-F027FC3385C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341042-6886-4BE5-9609-F6AE759C6F59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51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Прогнозирование победителя матча </a:t>
            </a:r>
            <a:r>
              <a:rPr lang="en-US" b="1" dirty="0"/>
              <a:t>CS2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Задача: оценить вероятность победы каждой из двух команд</a:t>
            </a:r>
          </a:p>
          <a:p>
            <a:r>
              <a:rPr lang="ru-RU" dirty="0"/>
              <a:t>Метод: </a:t>
            </a:r>
            <a:r>
              <a:rPr lang="ru-RU" dirty="0" err="1" smtClean="0"/>
              <a:t>LightGBM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750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 </a:t>
            </a:r>
            <a:r>
              <a:rPr lang="ru-RU" b="1" dirty="0" err="1"/>
              <a:t>датасета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Источник и структура данных:</a:t>
            </a:r>
            <a:endParaRPr lang="ru-RU" dirty="0"/>
          </a:p>
          <a:p>
            <a:r>
              <a:rPr lang="ru-RU" dirty="0" smtClean="0"/>
              <a:t>9 </a:t>
            </a:r>
            <a:r>
              <a:rPr lang="ru-RU" dirty="0"/>
              <a:t>750 карт (матчей) из всех тиров </a:t>
            </a:r>
            <a:r>
              <a:rPr lang="ru-RU" dirty="0" err="1"/>
              <a:t>киберспорта</a:t>
            </a:r>
            <a:r>
              <a:rPr lang="ru-RU" dirty="0"/>
              <a:t> по CS2</a:t>
            </a:r>
          </a:p>
          <a:p>
            <a:r>
              <a:rPr lang="ru-RU" dirty="0"/>
              <a:t>367 уникальных команд</a:t>
            </a:r>
          </a:p>
          <a:p>
            <a:r>
              <a:rPr lang="ru-RU" dirty="0"/>
              <a:t>Период: октябрь 2023 — апрель 2026</a:t>
            </a:r>
          </a:p>
          <a:p>
            <a:r>
              <a:rPr lang="ru-RU" dirty="0"/>
              <a:t>Распределение по тирам:</a:t>
            </a:r>
          </a:p>
          <a:p>
            <a:pPr lvl="1"/>
            <a:r>
              <a:rPr lang="ru-RU" dirty="0"/>
              <a:t>Tier1: 6 120 карт (63%)</a:t>
            </a:r>
          </a:p>
          <a:p>
            <a:pPr lvl="1"/>
            <a:r>
              <a:rPr lang="ru-RU" dirty="0"/>
              <a:t>Tier2: 3 295 карт (34%)</a:t>
            </a:r>
          </a:p>
          <a:p>
            <a:pPr lvl="1"/>
            <a:r>
              <a:rPr lang="ru-RU" dirty="0"/>
              <a:t>Tier3: 335 карт (3%)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35" y="2895254"/>
            <a:ext cx="5201376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34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Обзор признаков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093" y="1815852"/>
            <a:ext cx="5157695" cy="451323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Признаки делятся на несколько логических групп</a:t>
            </a:r>
            <a:r>
              <a:rPr lang="ru-RU" b="1" dirty="0" smtClean="0"/>
              <a:t>:</a:t>
            </a:r>
            <a:endParaRPr lang="en-US" b="1" dirty="0" smtClean="0"/>
          </a:p>
          <a:p>
            <a:pPr marL="0" indent="0">
              <a:buNone/>
            </a:pPr>
            <a:r>
              <a:rPr lang="en-US" i="1" dirty="0" smtClean="0"/>
              <a:t>1) </a:t>
            </a:r>
            <a:r>
              <a:rPr lang="ru-RU" i="1" dirty="0" smtClean="0"/>
              <a:t>Статистика </a:t>
            </a:r>
            <a:r>
              <a:rPr lang="ru-RU" i="1" dirty="0"/>
              <a:t>игроков команды (средние значения):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kills</a:t>
            </a:r>
            <a:r>
              <a:rPr lang="ru-RU" dirty="0"/>
              <a:t>, </a:t>
            </a:r>
            <a:r>
              <a:rPr lang="ru-RU" dirty="0" err="1"/>
              <a:t>deaths</a:t>
            </a:r>
            <a:r>
              <a:rPr lang="ru-RU" dirty="0"/>
              <a:t>, </a:t>
            </a:r>
            <a:r>
              <a:rPr lang="ru-RU" dirty="0" err="1"/>
              <a:t>assists</a:t>
            </a:r>
            <a:r>
              <a:rPr lang="ru-RU" dirty="0"/>
              <a:t>, ADR, KAST, </a:t>
            </a:r>
            <a:r>
              <a:rPr lang="ru-RU" dirty="0" smtClean="0"/>
              <a:t>KD-</a:t>
            </a:r>
            <a:r>
              <a:rPr lang="ru-RU" dirty="0" err="1" smtClean="0"/>
              <a:t>diff</a:t>
            </a:r>
            <a:endParaRPr lang="en-US" dirty="0"/>
          </a:p>
          <a:p>
            <a:pPr marL="0" indent="0">
              <a:buNone/>
            </a:pPr>
            <a:r>
              <a:rPr lang="en-US" i="1" dirty="0" smtClean="0"/>
              <a:t>2) </a:t>
            </a:r>
            <a:r>
              <a:rPr lang="ru-RU" i="1" dirty="0"/>
              <a:t>Динамические метрики формы</a:t>
            </a:r>
            <a:r>
              <a:rPr lang="ru-RU" i="1" dirty="0" smtClean="0"/>
              <a:t>:</a:t>
            </a:r>
            <a:endParaRPr lang="en-US" i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feat_winrate_50 </a:t>
            </a:r>
            <a:r>
              <a:rPr lang="ru-RU" dirty="0"/>
              <a:t>/ feat_winrate_10 — </a:t>
            </a:r>
            <a:r>
              <a:rPr lang="ru-RU" dirty="0" err="1"/>
              <a:t>винрейт</a:t>
            </a:r>
            <a:r>
              <a:rPr lang="ru-RU" dirty="0"/>
              <a:t> за последние 50/10 карт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feat_map_winrate</a:t>
            </a:r>
            <a:r>
              <a:rPr lang="ru-RU" dirty="0"/>
              <a:t> — </a:t>
            </a:r>
            <a:r>
              <a:rPr lang="ru-RU" dirty="0" err="1"/>
              <a:t>винрейт</a:t>
            </a:r>
            <a:r>
              <a:rPr lang="ru-RU" dirty="0"/>
              <a:t> на конкретной карте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feat_form</a:t>
            </a:r>
            <a:r>
              <a:rPr lang="ru-RU" dirty="0"/>
              <a:t>_* — скользящие средние по статистике игроков (за 20 карт</a:t>
            </a:r>
            <a:r>
              <a:rPr lang="ru-RU" dirty="0" smtClean="0"/>
              <a:t>)</a:t>
            </a:r>
            <a:endParaRPr lang="en-US" dirty="0" smtClean="0"/>
          </a:p>
          <a:p>
            <a:pPr marL="0" indent="0">
              <a:buNone/>
            </a:pPr>
            <a:r>
              <a:rPr lang="en-US" i="1" dirty="0" smtClean="0"/>
              <a:t>3)</a:t>
            </a:r>
            <a:r>
              <a:rPr lang="ru-RU" b="1" i="1" dirty="0"/>
              <a:t> </a:t>
            </a:r>
            <a:r>
              <a:rPr lang="ru-RU" i="1" dirty="0"/>
              <a:t>Рейтинговые и исторические признаки</a:t>
            </a:r>
            <a:r>
              <a:rPr lang="ru-RU" i="1" dirty="0" smtClean="0"/>
              <a:t>:</a:t>
            </a:r>
            <a:endParaRPr lang="en-US" i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elo_team1, elo_team2, </a:t>
            </a:r>
            <a:r>
              <a:rPr lang="en-US" dirty="0" err="1"/>
              <a:t>elo_diff</a:t>
            </a:r>
            <a:r>
              <a:rPr lang="en-US" dirty="0"/>
              <a:t> — </a:t>
            </a:r>
            <a:r>
              <a:rPr lang="ru-RU" dirty="0"/>
              <a:t>рейтинг по формуле </a:t>
            </a:r>
            <a:r>
              <a:rPr lang="en-US" dirty="0"/>
              <a:t>Valve/</a:t>
            </a:r>
            <a:r>
              <a:rPr lang="en-US" dirty="0" err="1"/>
              <a:t>Elo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h2h_winrate — </a:t>
            </a:r>
            <a:r>
              <a:rPr lang="ru-RU" dirty="0"/>
              <a:t>процент побед в личных встречах (последние </a:t>
            </a:r>
            <a:r>
              <a:rPr lang="ru-RU" dirty="0" smtClean="0"/>
              <a:t>10 </a:t>
            </a:r>
            <a:r>
              <a:rPr lang="ru-RU" dirty="0"/>
              <a:t>матчей</a:t>
            </a:r>
            <a:r>
              <a:rPr lang="ru-RU" dirty="0" smtClean="0"/>
              <a:t>)</a:t>
            </a:r>
            <a:endParaRPr lang="en-US" dirty="0" smtClean="0"/>
          </a:p>
          <a:p>
            <a:pPr marL="0" indent="0">
              <a:buNone/>
            </a:pPr>
            <a:r>
              <a:rPr lang="en-US" i="1" dirty="0" smtClean="0"/>
              <a:t>4) </a:t>
            </a:r>
            <a:r>
              <a:rPr lang="ru-RU" i="1" dirty="0"/>
              <a:t>Контекстуальные признаки</a:t>
            </a:r>
            <a:r>
              <a:rPr lang="ru-RU" i="1" dirty="0" smtClean="0"/>
              <a:t>:</a:t>
            </a:r>
            <a:endParaRPr lang="en-US" i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Название карты (</a:t>
            </a:r>
            <a:r>
              <a:rPr lang="ru-RU" dirty="0" err="1"/>
              <a:t>map</a:t>
            </a:r>
            <a:r>
              <a:rPr lang="ru-RU" dirty="0"/>
              <a:t>_*), формат серии (</a:t>
            </a:r>
            <a:r>
              <a:rPr lang="ru-RU" dirty="0" err="1"/>
              <a:t>bo</a:t>
            </a:r>
            <a:r>
              <a:rPr lang="ru-RU" dirty="0"/>
              <a:t>_*), тир турнира (</a:t>
            </a:r>
            <a:r>
              <a:rPr lang="ru-RU" dirty="0" err="1"/>
              <a:t>tier</a:t>
            </a:r>
            <a:r>
              <a:rPr lang="ru-RU" dirty="0" smtClean="0"/>
              <a:t>_*)</a:t>
            </a:r>
            <a:endParaRPr lang="en-US" dirty="0" smtClean="0"/>
          </a:p>
          <a:p>
            <a:pPr marL="0" indent="0">
              <a:buNone/>
            </a:pPr>
            <a:r>
              <a:rPr lang="ru-RU" b="1" dirty="0"/>
              <a:t>Итого:</a:t>
            </a:r>
            <a:r>
              <a:rPr lang="ru-RU" dirty="0"/>
              <a:t> 46 финальных признаков после отбора и кодирования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471" y="1902350"/>
            <a:ext cx="6401693" cy="49536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471" y="2512700"/>
            <a:ext cx="6401693" cy="42868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425" y="3019877"/>
            <a:ext cx="6096551" cy="287292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271" y="5938083"/>
            <a:ext cx="2385094" cy="39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Первый взгляд на </a:t>
            </a:r>
            <a:r>
              <a:rPr lang="ru-RU" b="1" dirty="0" smtClean="0"/>
              <a:t>данные</a:t>
            </a:r>
            <a:r>
              <a:rPr lang="en-US" b="1" dirty="0" smtClean="0"/>
              <a:t> </a:t>
            </a:r>
            <a:r>
              <a:rPr lang="ru-RU" b="1" dirty="0" smtClean="0"/>
              <a:t>и их обработка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611" y="4147607"/>
            <a:ext cx="2734403" cy="17096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510" y="2755693"/>
            <a:ext cx="3861694" cy="292784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03509" y="2011332"/>
            <a:ext cx="208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1) Расчёт рейтинга 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09" y="2422214"/>
            <a:ext cx="5147542" cy="93591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03509" y="3568203"/>
            <a:ext cx="3773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2</a:t>
            </a:r>
            <a:r>
              <a:rPr lang="ru-RU" b="1" dirty="0" smtClean="0"/>
              <a:t>) Составление команд по рейтингу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39275" y="2151486"/>
            <a:ext cx="3084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3) Распределение признаков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887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Обучение модели </a:t>
            </a:r>
            <a:r>
              <a:rPr lang="en-US" b="1" dirty="0" err="1"/>
              <a:t>LightGBM</a:t>
            </a: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89141" y="1971345"/>
            <a:ext cx="2196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Разделение данных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3" y="2431226"/>
            <a:ext cx="3283718" cy="575197"/>
          </a:xfrm>
          <a:prstGeom prst="rect">
            <a:avLst/>
          </a:prstGeom>
        </p:spPr>
      </p:pic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231230"/>
              </p:ext>
            </p:extLst>
          </p:nvPr>
        </p:nvGraphicFramePr>
        <p:xfrm>
          <a:off x="5695576" y="1874137"/>
          <a:ext cx="629322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741">
                  <a:extLst>
                    <a:ext uri="{9D8B030D-6E8A-4147-A177-3AD203B41FA5}">
                      <a16:colId xmlns:a16="http://schemas.microsoft.com/office/drawing/2014/main" val="3760284023"/>
                    </a:ext>
                  </a:extLst>
                </a:gridCol>
                <a:gridCol w="2028028">
                  <a:extLst>
                    <a:ext uri="{9D8B030D-6E8A-4147-A177-3AD203B41FA5}">
                      <a16:colId xmlns:a16="http://schemas.microsoft.com/office/drawing/2014/main" val="63622555"/>
                    </a:ext>
                  </a:extLst>
                </a:gridCol>
                <a:gridCol w="2167453">
                  <a:extLst>
                    <a:ext uri="{9D8B030D-6E8A-4147-A177-3AD203B41FA5}">
                      <a16:colId xmlns:a16="http://schemas.microsoft.com/office/drawing/2014/main" val="3512114678"/>
                    </a:ext>
                  </a:extLst>
                </a:gridCol>
              </a:tblGrid>
              <a:tr h="3204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err="1" smtClean="0">
                          <a:effectLst/>
                        </a:rPr>
                        <a:t>Гиперпараметр</a:t>
                      </a:r>
                      <a:endParaRPr lang="ru-RU" sz="1100" dirty="0" smtClean="0">
                        <a:effectLst/>
                      </a:endParaRP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>
                          <a:effectLst/>
                        </a:rPr>
                        <a:t>Значение</a:t>
                      </a: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smtClean="0">
                          <a:effectLst/>
                        </a:rPr>
                        <a:t>Что означает 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74706"/>
                  </a:ext>
                </a:extLst>
              </a:tr>
              <a:tr h="5095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>
                          <a:effectLst/>
                        </a:rPr>
                        <a:t>learning_rate</a:t>
                      </a:r>
                      <a:endParaRPr lang="en-US" sz="1100" dirty="0" smtClean="0">
                        <a:effectLst/>
                      </a:endParaRP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>
                          <a:effectLst/>
                        </a:rPr>
                        <a:t>0.05</a:t>
                      </a: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 smtClean="0">
                          <a:effectLst/>
                        </a:rPr>
                        <a:t>Скорость обучения</a:t>
                      </a:r>
                      <a:r>
                        <a:rPr lang="ru-RU" sz="1100" dirty="0" smtClean="0">
                          <a:effectLst/>
                        </a:rPr>
                        <a:t>. Модель учится медленно</a:t>
                      </a:r>
                      <a:r>
                        <a:rPr lang="ru-RU" sz="1100" baseline="0" dirty="0" smtClean="0">
                          <a:effectLst/>
                        </a:rPr>
                        <a:t> 5% от шага</a:t>
                      </a:r>
                      <a:endParaRPr lang="ru-RU" sz="1100" dirty="0" smtClean="0">
                        <a:effectLst/>
                      </a:endParaRPr>
                    </a:p>
                    <a:p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25731"/>
                  </a:ext>
                </a:extLst>
              </a:tr>
              <a:tr h="5095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>
                          <a:effectLst/>
                        </a:rPr>
                        <a:t>num_leaves</a:t>
                      </a:r>
                      <a:endParaRPr lang="en-US" sz="1100" dirty="0" smtClean="0">
                        <a:effectLst/>
                      </a:endParaRP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>
                          <a:effectLst/>
                        </a:rPr>
                        <a:t>31</a:t>
                      </a: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 smtClean="0">
                          <a:effectLst/>
                        </a:rPr>
                        <a:t>Сложность деревьев</a:t>
                      </a:r>
                      <a:r>
                        <a:rPr lang="ru-RU" sz="1100" dirty="0" smtClean="0">
                          <a:effectLst/>
                        </a:rPr>
                        <a:t>. Чем больше, тем детальнее модель запоминает данные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799687"/>
                  </a:ext>
                </a:extLst>
              </a:tr>
              <a:tr h="5095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>
                          <a:effectLst/>
                        </a:rPr>
                        <a:t>feature_fraction</a:t>
                      </a:r>
                      <a:endParaRPr lang="en-US" sz="1100" dirty="0" smtClean="0">
                        <a:effectLst/>
                      </a:endParaRP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>
                          <a:effectLst/>
                        </a:rPr>
                        <a:t>0.8</a:t>
                      </a: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 smtClean="0">
                          <a:effectLst/>
                        </a:rPr>
                        <a:t>Случайность признаков</a:t>
                      </a:r>
                      <a:r>
                        <a:rPr lang="ru-RU" sz="1100" dirty="0" smtClean="0">
                          <a:effectLst/>
                        </a:rPr>
                        <a:t>. На каждом шаге модель смотрит только на 80% признаков. 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577351"/>
                  </a:ext>
                </a:extLst>
              </a:tr>
              <a:tr h="3919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>
                          <a:effectLst/>
                        </a:rPr>
                        <a:t>bagging_fraction</a:t>
                      </a:r>
                      <a:endParaRPr lang="en-US" sz="1100" dirty="0" smtClean="0">
                        <a:effectLst/>
                      </a:endParaRP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>
                          <a:effectLst/>
                        </a:rPr>
                        <a:t>0.8</a:t>
                      </a: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 smtClean="0">
                          <a:effectLst/>
                        </a:rPr>
                        <a:t>Случайность данных</a:t>
                      </a:r>
                      <a:r>
                        <a:rPr lang="ru-RU" sz="1100" dirty="0" smtClean="0">
                          <a:effectLst/>
                        </a:rPr>
                        <a:t>. На каждом шаге модель учится на 80% данных.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22464"/>
                  </a:ext>
                </a:extLst>
              </a:tr>
              <a:tr h="5095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>
                          <a:effectLst/>
                        </a:rPr>
                        <a:t>bagging_freq</a:t>
                      </a:r>
                      <a:endParaRPr lang="en-US" sz="1100" dirty="0" smtClean="0">
                        <a:effectLst/>
                      </a:endParaRP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>
                          <a:effectLst/>
                        </a:rPr>
                        <a:t>5</a:t>
                      </a: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 smtClean="0">
                          <a:effectLst/>
                        </a:rPr>
                        <a:t>Как часто</a:t>
                      </a:r>
                      <a:r>
                        <a:rPr lang="ru-RU" sz="1100" dirty="0" smtClean="0">
                          <a:effectLst/>
                        </a:rPr>
                        <a:t> применять случайность (каждые 5 итераций).</a:t>
                      </a:r>
                    </a:p>
                    <a:p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762341"/>
                  </a:ext>
                </a:extLst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615576" y="3385688"/>
            <a:ext cx="33946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Early</a:t>
            </a:r>
            <a:r>
              <a:rPr lang="ru-RU" b="1" dirty="0"/>
              <a:t> </a:t>
            </a:r>
            <a:r>
              <a:rPr lang="ru-RU" b="1" dirty="0" err="1"/>
              <a:t>stopping</a:t>
            </a:r>
            <a:r>
              <a:rPr lang="ru-RU" b="1" dirty="0"/>
              <a:t>:</a:t>
            </a:r>
            <a:r>
              <a:rPr lang="ru-RU" dirty="0"/>
              <a:t> 50 раундов без улучшения на </a:t>
            </a:r>
            <a:r>
              <a:rPr lang="ru-RU" dirty="0" err="1"/>
              <a:t>валидации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/>
              <a:t>Лучшая итерация:</a:t>
            </a:r>
            <a:r>
              <a:rPr lang="ru-RU" dirty="0"/>
              <a:t> 36 из 500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i="0" dirty="0" smtClean="0">
                <a:solidFill>
                  <a:srgbClr val="F7F8FC"/>
                </a:solidFill>
                <a:effectLst/>
                <a:latin typeface="system-ui"/>
              </a:rPr>
              <a:t>Лучшая итерация:</a:t>
            </a:r>
            <a:r>
              <a:rPr lang="ru-RU" b="0" i="0" dirty="0" smtClean="0">
                <a:solidFill>
                  <a:srgbClr val="F7F8FC"/>
                </a:solidFill>
                <a:effectLst/>
                <a:latin typeface="system-ui"/>
              </a:rPr>
              <a:t> 36 из 500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59" y="4475457"/>
            <a:ext cx="4884552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72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Результаты и метрики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21559" y="1941464"/>
            <a:ext cx="6012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Качество модели на </a:t>
            </a:r>
            <a:r>
              <a:rPr lang="ru-RU" b="1" dirty="0" smtClean="0"/>
              <a:t>тестовом и </a:t>
            </a:r>
            <a:r>
              <a:rPr lang="ru-RU" b="1" dirty="0" err="1" smtClean="0"/>
              <a:t>валидаци</a:t>
            </a:r>
            <a:r>
              <a:rPr lang="ru-RU" b="1" dirty="0" err="1" smtClean="0"/>
              <a:t>:</a:t>
            </a:r>
            <a:r>
              <a:rPr lang="ru-RU" b="1" dirty="0" err="1" smtClean="0"/>
              <a:t>онном</a:t>
            </a:r>
            <a:r>
              <a:rPr lang="ru-RU" dirty="0" smtClean="0"/>
              <a:t> </a:t>
            </a:r>
            <a:r>
              <a:rPr lang="ru-RU" b="1" dirty="0" smtClean="0"/>
              <a:t> </a:t>
            </a:r>
            <a:r>
              <a:rPr lang="ru-RU" b="1" dirty="0"/>
              <a:t>наборе: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712" y="2514900"/>
            <a:ext cx="3896269" cy="65731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86" y="3332554"/>
            <a:ext cx="6114832" cy="214665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121" y="2398867"/>
            <a:ext cx="4016112" cy="88938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820549" y="1941464"/>
            <a:ext cx="5260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Быстрая проверка работы функции предсказания: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2074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и визуализация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1" y="1928359"/>
            <a:ext cx="6709637" cy="188967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649" y="1855692"/>
            <a:ext cx="5263412" cy="339975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651" y="3890702"/>
            <a:ext cx="360095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8288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</TotalTime>
  <Words>319</Words>
  <Application>Microsoft Office PowerPoint</Application>
  <PresentationFormat>Широкоэкранный</PresentationFormat>
  <Paragraphs>55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system-ui</vt:lpstr>
      <vt:lpstr>Ретро</vt:lpstr>
      <vt:lpstr>Прогнозирование победителя матча CS2</vt:lpstr>
      <vt:lpstr>Описание датасета </vt:lpstr>
      <vt:lpstr>Обзор признаков </vt:lpstr>
      <vt:lpstr>Первый взгляд на данные и их обработка </vt:lpstr>
      <vt:lpstr>Обучение модели LightGBM </vt:lpstr>
      <vt:lpstr>Результаты и метрики </vt:lpstr>
      <vt:lpstr>Результаты и визуализация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победителя матча CS2</dc:title>
  <dc:creator>Вячеслав Беринцев</dc:creator>
  <cp:lastModifiedBy>Вячеслав Беринцев</cp:lastModifiedBy>
  <cp:revision>6</cp:revision>
  <dcterms:created xsi:type="dcterms:W3CDTF">2026-04-22T16:16:52Z</dcterms:created>
  <dcterms:modified xsi:type="dcterms:W3CDTF">2026-04-22T17:11:26Z</dcterms:modified>
</cp:coreProperties>
</file>